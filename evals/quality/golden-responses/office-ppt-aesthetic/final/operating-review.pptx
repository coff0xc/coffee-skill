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Exceptions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April</c:v>
                </c:pt>
                <c:pt idx="1">
                  <c:v>June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418</c:v>
                </c:pt>
                <c:pt idx="1">
                  <c:v>271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Review hours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April</c:v>
                </c:pt>
                <c:pt idx="1">
                  <c:v>June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64</c:v>
                </c:pt>
                <c:pt idx="1">
                  <c:v>91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225"/>
                </a:solidFill>
              </a:defRPr>
            </a:pPr>
            <a:r>
              <a:t>Operating question: why did fewer exceptions create more review work?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920240"/>
            <a:ext cx="2880360" cy="1051560"/>
          </a:xfrm>
          <a:prstGeom prst="rect">
            <a:avLst/>
          </a:prstGeom>
          <a:solidFill>
            <a:srgbClr val="D9A441"/>
          </a:solidFill>
          <a:ln>
            <a:solidFill>
              <a:srgbClr val="D9A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066543"/>
            <a:ext cx="2468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418 -&gt; 271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48716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invoice exceptions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343400" y="1920240"/>
            <a:ext cx="2880360" cy="1051560"/>
          </a:xfrm>
          <a:prstGeom prst="rect">
            <a:avLst/>
          </a:prstGeom>
          <a:solidFill>
            <a:srgbClr val="2F7F95"/>
          </a:solidFill>
          <a:ln>
            <a:solidFill>
              <a:srgbClr val="2F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2066543"/>
            <a:ext cx="2468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64 -&gt; 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248716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manual review hours / week</a:t>
            </a:r>
          </a:p>
        </p:txBody>
      </p:sp>
      <p:sp>
        <p:nvSpPr>
          <p:cNvPr id="9" name="Rectangle 8"/>
          <p:cNvSpPr/>
          <p:nvPr/>
        </p:nvSpPr>
        <p:spPr>
          <a:xfrm>
            <a:off x="8001000" y="1920240"/>
            <a:ext cx="2880360" cy="1051560"/>
          </a:xfrm>
          <a:prstGeom prst="rect">
            <a:avLst/>
          </a:prstGeom>
          <a:solidFill>
            <a:srgbClr val="B75F3A"/>
          </a:solidFill>
          <a:ln>
            <a:solidFill>
              <a:srgbClr val="B75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2066543"/>
            <a:ext cx="2468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38%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248716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tax-code mismatch share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3276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0">
                <a:solidFill>
                  <a:srgbClr val="59656A"/>
                </a:solidFill>
              </a:defRPr>
            </a:pPr>
            <a:r>
              <a:t>Source: Q2 billing operations outline; internal review notes.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225"/>
                </a:solidFill>
              </a:defRPr>
            </a:pPr>
            <a:r>
              <a:t>Exceptions improved, but manual review hours moved the wrong way.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234440"/>
          <a:ext cx="649224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818120" y="1417320"/>
            <a:ext cx="3017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225"/>
                </a:solidFill>
              </a:defRPr>
            </a:pPr>
            <a:r>
              <a:t>Proof object: volume down, labor 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18120" y="2331720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182225"/>
                </a:solidFill>
              </a:defRPr>
            </a:pPr>
            <a:r>
              <a:t>The validation rules are catching issues earlier but shifting effort to manual review.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3276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0">
                <a:solidFill>
                  <a:srgbClr val="59656A"/>
                </a:solidFill>
              </a:defRPr>
            </a:pPr>
            <a:r>
              <a:t>Source: Q2 billing operations outline; internal review notes.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225"/>
                </a:solidFill>
              </a:defRPr>
            </a:pPr>
            <a:r>
              <a:t>Tax-code mismatches are the largest controllable exception family.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182225"/>
                </a:solidFill>
              </a:defRPr>
            </a:pPr>
            <a:r>
              <a:t>Tax-code mismatches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8960" y="1417320"/>
            <a:ext cx="3860800" cy="320040"/>
          </a:xfrm>
          <a:prstGeom prst="rect">
            <a:avLst/>
          </a:prstGeom>
          <a:solidFill>
            <a:srgbClr val="B75F3A"/>
          </a:solidFill>
          <a:ln>
            <a:solidFill>
              <a:srgbClr val="B75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06920" y="14173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2225"/>
                </a:solidFill>
              </a:defRPr>
            </a:pPr>
            <a:r>
              <a:t>38%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182225"/>
                </a:solidFill>
              </a:defRPr>
            </a:pPr>
            <a:r>
              <a:t>Missing PO references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2240280"/>
            <a:ext cx="2438400" cy="320040"/>
          </a:xfrm>
          <a:prstGeom prst="rect">
            <a:avLst/>
          </a:prstGeom>
          <a:solidFill>
            <a:srgbClr val="D9A441"/>
          </a:solidFill>
          <a:ln>
            <a:solidFill>
              <a:srgbClr val="D9A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84520" y="22402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2225"/>
                </a:solidFill>
              </a:defRPr>
            </a:pPr>
            <a:r>
              <a:t>24%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182225"/>
                </a:solidFill>
              </a:defRPr>
            </a:pPr>
            <a:r>
              <a:t>Address normalization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3063240"/>
            <a:ext cx="1828800" cy="320040"/>
          </a:xfrm>
          <a:prstGeom prst="rect">
            <a:avLst/>
          </a:prstGeom>
          <a:solidFill>
            <a:srgbClr val="2F7F95"/>
          </a:solidFill>
          <a:ln>
            <a:solidFill>
              <a:srgbClr val="2F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0" y="3063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2225"/>
                </a:solidFill>
              </a:defRPr>
            </a:pPr>
            <a:r>
              <a:t>18%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862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182225"/>
                </a:solidFill>
              </a:defRPr>
            </a:pPr>
            <a:r>
              <a:t>Other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3886200"/>
            <a:ext cx="2032000" cy="320040"/>
          </a:xfrm>
          <a:prstGeom prst="rect">
            <a:avLst/>
          </a:prstGeom>
          <a:solidFill>
            <a:srgbClr val="6B7280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78120" y="38862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82225"/>
                </a:solidFill>
              </a:defRPr>
            </a:pPr>
            <a:r>
              <a:t>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3276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0">
                <a:solidFill>
                  <a:srgbClr val="59656A"/>
                </a:solidFill>
              </a:defRPr>
            </a:pPr>
            <a:r>
              <a:t>Source: Q2 billing operations outline; internal review notes.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225"/>
                </a:solidFill>
              </a:defRPr>
            </a:pPr>
            <a:r>
              <a:t>West region concentration makes local routing rules the next constraint.</a:t>
            </a:r>
          </a:p>
        </p:txBody>
      </p:sp>
      <p:sp>
        <p:nvSpPr>
          <p:cNvPr id="3" name="Hexagon 2"/>
          <p:cNvSpPr/>
          <p:nvPr/>
        </p:nvSpPr>
        <p:spPr>
          <a:xfrm>
            <a:off x="822960" y="1417320"/>
            <a:ext cx="1920240" cy="960120"/>
          </a:xfrm>
          <a:prstGeom prst="hexagon">
            <a:avLst/>
          </a:prstGeom>
          <a:solidFill>
            <a:srgbClr val="B75F3A"/>
          </a:solidFill>
          <a:ln>
            <a:solidFill>
              <a:srgbClr val="B75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71800" y="1463040"/>
            <a:ext cx="2057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225"/>
                </a:solidFill>
              </a:defRPr>
            </a:pPr>
            <a:r>
              <a:t>West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1828800"/>
            <a:ext cx="2057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182225"/>
                </a:solidFill>
              </a:defRPr>
            </a:pPr>
            <a:r>
              <a:t>highest density</a:t>
            </a:r>
          </a:p>
        </p:txBody>
      </p:sp>
      <p:sp>
        <p:nvSpPr>
          <p:cNvPr id="6" name="Hexagon 5"/>
          <p:cNvSpPr/>
          <p:nvPr/>
        </p:nvSpPr>
        <p:spPr>
          <a:xfrm>
            <a:off x="5760720" y="1417320"/>
            <a:ext cx="1920240" cy="960120"/>
          </a:xfrm>
          <a:prstGeom prst="hexagon">
            <a:avLst/>
          </a:prstGeom>
          <a:solidFill>
            <a:srgbClr val="D9A441"/>
          </a:solidFill>
          <a:ln>
            <a:solidFill>
              <a:srgbClr val="D9A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09560" y="1463040"/>
            <a:ext cx="2057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225"/>
                </a:solidFill>
              </a:defRPr>
            </a:pPr>
            <a:r>
              <a:t>North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1828800"/>
            <a:ext cx="2057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182225"/>
                </a:solidFill>
              </a:defRPr>
            </a:pPr>
            <a:r>
              <a:t>large-value misses</a:t>
            </a:r>
          </a:p>
        </p:txBody>
      </p:sp>
      <p:sp>
        <p:nvSpPr>
          <p:cNvPr id="9" name="Hexagon 8"/>
          <p:cNvSpPr/>
          <p:nvPr/>
        </p:nvSpPr>
        <p:spPr>
          <a:xfrm>
            <a:off x="822960" y="2971800"/>
            <a:ext cx="1920240" cy="960120"/>
          </a:xfrm>
          <a:prstGeom prst="hexagon">
            <a:avLst/>
          </a:prstGeom>
          <a:solidFill>
            <a:srgbClr val="2F7F95"/>
          </a:solidFill>
          <a:ln>
            <a:solidFill>
              <a:srgbClr val="2F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3017520"/>
            <a:ext cx="2057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225"/>
                </a:solidFill>
              </a:defRPr>
            </a:pPr>
            <a:r>
              <a:t>East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3383280"/>
            <a:ext cx="2057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182225"/>
                </a:solidFill>
              </a:defRPr>
            </a:pPr>
            <a:r>
              <a:t>closed backlog</a:t>
            </a:r>
          </a:p>
        </p:txBody>
      </p:sp>
      <p:sp>
        <p:nvSpPr>
          <p:cNvPr id="12" name="Hexagon 11"/>
          <p:cNvSpPr/>
          <p:nvPr/>
        </p:nvSpPr>
        <p:spPr>
          <a:xfrm>
            <a:off x="5760720" y="2971800"/>
            <a:ext cx="1920240" cy="960120"/>
          </a:xfrm>
          <a:prstGeom prst="hexagon">
            <a:avLst/>
          </a:prstGeom>
          <a:solidFill>
            <a:srgbClr val="6B7280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3017520"/>
            <a:ext cx="2057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2225"/>
                </a:solidFill>
              </a:defRPr>
            </a:pPr>
            <a:r>
              <a:t>South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3383280"/>
            <a:ext cx="2057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182225"/>
                </a:solidFill>
              </a:defRPr>
            </a:pPr>
            <a:r>
              <a:t>data quality gaps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3276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0">
                <a:solidFill>
                  <a:srgbClr val="59656A"/>
                </a:solidFill>
              </a:defRPr>
            </a:pPr>
            <a:r>
              <a:t>Source: Q2 billing operations outline; internal review notes.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225"/>
                </a:solidFill>
              </a:defRPr>
            </a:pPr>
            <a:r>
              <a:t>Earlier validation catches problems but shifts work into review queues.</a:t>
            </a:r>
          </a:p>
        </p:txBody>
      </p:sp>
      <p:sp>
        <p:nvSpPr>
          <p:cNvPr id="3" name="Chevron 2"/>
          <p:cNvSpPr/>
          <p:nvPr/>
        </p:nvSpPr>
        <p:spPr>
          <a:xfrm>
            <a:off x="868680" y="2057400"/>
            <a:ext cx="2514600" cy="914400"/>
          </a:xfrm>
          <a:prstGeom prst="chevron">
            <a:avLst/>
          </a:prstGeom>
          <a:solidFill>
            <a:srgbClr val="2F7F95"/>
          </a:solidFill>
          <a:ln>
            <a:solidFill>
              <a:srgbClr val="2F7F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" y="2212848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Validate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" y="2542032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rules catch earlier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520440" y="2514600"/>
            <a:ext cx="5943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hevron 6"/>
          <p:cNvSpPr/>
          <p:nvPr/>
        </p:nvSpPr>
        <p:spPr>
          <a:xfrm>
            <a:off x="4526280" y="2057400"/>
            <a:ext cx="2514600" cy="914400"/>
          </a:xfrm>
          <a:prstGeom prst="chevron">
            <a:avLst/>
          </a:prstGeom>
          <a:solidFill>
            <a:srgbClr val="D9A441"/>
          </a:solidFill>
          <a:ln>
            <a:solidFill>
              <a:srgbClr val="D9A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82312" y="2212848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Triage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82312" y="2542032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manual queue grows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178040" y="2514600"/>
            <a:ext cx="5943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hevron 10"/>
          <p:cNvSpPr/>
          <p:nvPr/>
        </p:nvSpPr>
        <p:spPr>
          <a:xfrm>
            <a:off x="8183879" y="2057400"/>
            <a:ext cx="2514600" cy="914400"/>
          </a:xfrm>
          <a:prstGeom prst="chevron">
            <a:avLst/>
          </a:prstGeom>
          <a:solidFill>
            <a:srgbClr val="B75F3A"/>
          </a:solidFill>
          <a:ln>
            <a:solidFill>
              <a:srgbClr val="B75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9911" y="2212848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Resolve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9911" y="2542032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FFFFFF"/>
                </a:solidFill>
              </a:defRPr>
            </a:pPr>
            <a:r>
              <a:t>ownership gaps surface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3276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0">
                <a:solidFill>
                  <a:srgbClr val="59656A"/>
                </a:solidFill>
              </a:defRPr>
            </a:pPr>
            <a:r>
              <a:t>Source: Q2 billing operations outline; internal review notes.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82225"/>
                </a:solidFill>
              </a:defRPr>
            </a:pPr>
            <a:r>
              <a:t>Decisions needed: rule ownership, PO policy, and regional escalation.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77240" y="1463040"/>
          <a:ext cx="101498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3383280"/>
                <a:gridCol w="3383280"/>
              </a:tblGrid>
              <a:tr h="594360">
                <a:tc>
                  <a:txBody>
                    <a:bodyPr/>
                    <a:lstStyle/>
                    <a:p>
                      <a:r>
                        <a:t>Decision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Why now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t>Rule ownership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Finance +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Tax-code mismatches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t>PO policy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Missing references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t>West escalation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Regional 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Highest density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632764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b="0">
                <a:solidFill>
                  <a:srgbClr val="59656A"/>
                </a:solidFill>
              </a:defRPr>
            </a:pPr>
            <a:r>
              <a:t>Source: Q2 billing operations outline; internal review notes.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